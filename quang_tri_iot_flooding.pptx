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ight Triangle 1"/>
          <p:cNvSpPr/>
          <p:nvPr/>
        </p:nvSpPr>
        <p:spPr>
          <a:xfrm rot="10800000">
            <a:off x="8534095" y="3200400"/>
            <a:ext cx="3657600" cy="3657600"/>
          </a:xfrm>
          <a:prstGeom prst="rtTriangle">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371600"/>
            <a:ext cx="4572000" cy="411480"/>
          </a:xfrm>
          <a:prstGeom prst="roundRect">
            <a:avLst/>
          </a:prstGeom>
          <a:solidFill>
            <a:srgbClr val="1E3A8A"/>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8FAFC"/>
                </a:solidFill>
                <a:latin typeface="Segoe UI"/>
              </a:defRPr>
            </a:pPr>
            <a:r>
              <a:t>CUỘC THI SÁNG TẠO TRẺ QUẢNG TRỊ LẦN THỨ I - NĂM 2026</a:t>
            </a:r>
          </a:p>
        </p:txBody>
      </p:sp>
      <p:sp>
        <p:nvSpPr>
          <p:cNvPr id="4" name="TextBox 3"/>
          <p:cNvSpPr txBox="1"/>
          <p:nvPr/>
        </p:nvSpPr>
        <p:spPr>
          <a:xfrm>
            <a:off x="731520" y="2011680"/>
            <a:ext cx="10058400" cy="2011680"/>
          </a:xfrm>
          <a:prstGeom prst="rect">
            <a:avLst/>
          </a:prstGeom>
          <a:noFill/>
        </p:spPr>
        <p:txBody>
          <a:bodyPr wrap="square">
            <a:spAutoFit/>
          </a:bodyPr>
          <a:lstStyle/>
          <a:p>
            <a:pPr>
              <a:lnSpc>
                <a:spcPct val="115000"/>
              </a:lnSpc>
              <a:defRPr sz="4000" b="1">
                <a:solidFill>
                  <a:srgbClr val="F8FAFC"/>
                </a:solidFill>
                <a:latin typeface="Segoe UI"/>
              </a:defRPr>
            </a:pPr>
            <a:r>
              <a:t>HỆ THỐNG CẢNH BÁO NGẬP THÔNG MINH</a:t>
            </a:r>
            <a:br/>
            <a:r>
              <a:t>VÀ ĐIỀU KHIỂN TỪ XA ỨNG DỤNG IoT</a:t>
            </a:r>
          </a:p>
        </p:txBody>
      </p:sp>
      <p:sp>
        <p:nvSpPr>
          <p:cNvPr id="5" name="TextBox 4"/>
          <p:cNvSpPr txBox="1"/>
          <p:nvPr/>
        </p:nvSpPr>
        <p:spPr>
          <a:xfrm>
            <a:off x="731520" y="4206240"/>
            <a:ext cx="9144000" cy="914400"/>
          </a:xfrm>
          <a:prstGeom prst="rect">
            <a:avLst/>
          </a:prstGeom>
          <a:noFill/>
        </p:spPr>
        <p:txBody>
          <a:bodyPr wrap="square">
            <a:spAutoFit/>
          </a:bodyPr>
          <a:lstStyle/>
          <a:p>
            <a:pPr>
              <a:defRPr sz="1600">
                <a:solidFill>
                  <a:srgbClr val="94A3B8"/>
                </a:solidFill>
                <a:latin typeface="Segoe UI"/>
              </a:defRPr>
            </a:pPr>
            <a:r>
              <a:t>Giải pháp phòng tránh lũ lụt chủ động, bảo vệ an toàn tính mạng người dân vùng cao tại các ngầm tràn thuộc tỉnh Quảng Trị.</a:t>
            </a:r>
          </a:p>
        </p:txBody>
      </p:sp>
      <p:sp>
        <p:nvSpPr>
          <p:cNvPr id="6" name="TextBox 5"/>
          <p:cNvSpPr txBox="1"/>
          <p:nvPr/>
        </p:nvSpPr>
        <p:spPr>
          <a:xfrm>
            <a:off x="731520" y="5394960"/>
            <a:ext cx="9144000" cy="731520"/>
          </a:xfrm>
          <a:prstGeom prst="rect">
            <a:avLst/>
          </a:prstGeom>
          <a:noFill/>
        </p:spPr>
        <p:txBody>
          <a:bodyPr wrap="none">
            <a:spAutoFit/>
          </a:bodyPr>
          <a:lstStyle/>
          <a:p>
            <a:pPr>
              <a:defRPr sz="1400" b="1">
                <a:solidFill>
                  <a:srgbClr val="EF4444"/>
                </a:solidFill>
                <a:latin typeface="Segoe UI"/>
              </a:defRPr>
            </a:pPr>
            <a:r>
              <a:t>Tác giả sáng chế: NGUYỄN MINH PHƯƠNG</a:t>
            </a:r>
          </a:p>
          <a:p>
            <a:pPr>
              <a:defRPr sz="1200">
                <a:solidFill>
                  <a:srgbClr val="94A3B8"/>
                </a:solidFill>
                <a:latin typeface="Segoe UI"/>
              </a:defRPr>
            </a:pPr>
            <a:r>
              <a:t>Ngày hoàn thiện giải pháp: 10/05/2026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THỰC TRẠNG VÀ NỖI ĐAU THỰC TẾ TẠI ĐỊA PHƯƠNG</a:t>
            </a:r>
          </a:p>
          <a:p>
            <a:pPr>
              <a:spcBef>
                <a:spcPts val="400"/>
              </a:spcBef>
              <a:defRPr sz="1100" b="1">
                <a:solidFill>
                  <a:srgbClr val="0EA5E9"/>
                </a:solidFill>
                <a:latin typeface="Segoe UI"/>
              </a:defRPr>
            </a:pPr>
            <a:r>
              <a:t>BỐI CẢNH PHÁT TRIỂN</a:t>
            </a:r>
          </a:p>
        </p:txBody>
      </p:sp>
      <p:sp>
        <p:nvSpPr>
          <p:cNvPr id="4" name="Rounded Rectangle 3"/>
          <p:cNvSpPr/>
          <p:nvPr/>
        </p:nvSpPr>
        <p:spPr>
          <a:xfrm>
            <a:off x="731520" y="1645920"/>
            <a:ext cx="51206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1. Cảnh Báo Thủ Công Lỗi Thời</a:t>
            </a:r>
          </a:p>
          <a:p>
            <a:pPr>
              <a:lnSpc>
                <a:spcPct val="125000"/>
              </a:lnSpc>
              <a:spcAft>
                <a:spcPts val="800"/>
              </a:spcAft>
              <a:defRPr sz="1300">
                <a:solidFill>
                  <a:srgbClr val="F8FAFC"/>
                </a:solidFill>
                <a:latin typeface="Segoe UI"/>
              </a:defRPr>
            </a:pPr>
            <a:r>
              <a:t>- Các ngầm tràn miền núi hiện sử dụng biển báo tĩnh hoặc rào chắn tạm bợ khi bão lũ đổ về.</a:t>
            </a:r>
          </a:p>
          <a:p>
            <a:pPr>
              <a:lnSpc>
                <a:spcPct val="125000"/>
              </a:lnSpc>
              <a:spcAft>
                <a:spcPts val="800"/>
              </a:spcAft>
              <a:defRPr sz="1300">
                <a:solidFill>
                  <a:srgbClr val="F8FAFC"/>
                </a:solidFill>
                <a:latin typeface="Segoe UI"/>
              </a:defRPr>
            </a:pPr>
            <a:r>
              <a:t>- Lực lượng ứng trực phải túc trực trực tiếp trong điều kiện mưa gió hiểm nguy, thiếu chính xác.</a:t>
            </a:r>
          </a:p>
          <a:p>
            <a:pPr>
              <a:lnSpc>
                <a:spcPct val="125000"/>
              </a:lnSpc>
              <a:spcAft>
                <a:spcPts val="800"/>
              </a:spcAft>
              <a:defRPr sz="1300">
                <a:solidFill>
                  <a:srgbClr val="F8FAFC"/>
                </a:solidFill>
                <a:latin typeface="Segoe UI"/>
              </a:defRPr>
            </a:pPr>
            <a:r>
              <a:t>- Thời gian phản ứng chậm, không ngăn chặn kịp thời các dòng xe liều lĩnh đi qua khi nước đang dâng.</a:t>
            </a:r>
          </a:p>
        </p:txBody>
      </p:sp>
      <p:sp>
        <p:nvSpPr>
          <p:cNvPr id="6" name="Rounded Rectangle 5"/>
          <p:cNvSpPr/>
          <p:nvPr/>
        </p:nvSpPr>
        <p:spPr>
          <a:xfrm>
            <a:off x="6309360" y="1645920"/>
            <a:ext cx="5120640" cy="4297680"/>
          </a:xfrm>
          <a:prstGeom prst="roundRect">
            <a:avLst/>
          </a:prstGeom>
          <a:solidFill>
            <a:srgbClr val="1E293B"/>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2. Hiểm Họa Thiên Tai Khó Lường</a:t>
            </a:r>
          </a:p>
          <a:p>
            <a:pPr>
              <a:lnSpc>
                <a:spcPct val="125000"/>
              </a:lnSpc>
              <a:spcAft>
                <a:spcPts val="800"/>
              </a:spcAft>
              <a:defRPr sz="1300">
                <a:solidFill>
                  <a:srgbClr val="F8FAFC"/>
                </a:solidFill>
                <a:latin typeface="Segoe UI"/>
              </a:defRPr>
            </a:pPr>
            <a:r>
              <a:t>- Đặc thù các huyện miền núi Quảng Trị có lưu lượng lũ quét, lũ ống từ thượng nguồn đổ về rất nhanh.</a:t>
            </a:r>
          </a:p>
          <a:p>
            <a:pPr>
              <a:lnSpc>
                <a:spcPct val="125000"/>
              </a:lnSpc>
              <a:spcAft>
                <a:spcPts val="800"/>
              </a:spcAft>
              <a:defRPr sz="1300">
                <a:solidFill>
                  <a:srgbClr val="F8FAFC"/>
                </a:solidFill>
                <a:latin typeface="Segoe UI"/>
              </a:defRPr>
            </a:pPr>
            <a:r>
              <a:t>- Người đi đường không nắm được thông tin mực nước ngập sâu từ xa để chủ động chuyển hướng.</a:t>
            </a:r>
          </a:p>
          <a:p>
            <a:pPr>
              <a:lnSpc>
                <a:spcPct val="125000"/>
              </a:lnSpc>
              <a:spcAft>
                <a:spcPts val="800"/>
              </a:spcAft>
              <a:defRPr sz="1300">
                <a:solidFill>
                  <a:srgbClr val="F8FAFC"/>
                </a:solidFill>
                <a:latin typeface="Segoe UI"/>
              </a:defRPr>
            </a:pPr>
            <a:r>
              <a:t>- Mỗi năm vẫn xảy ra các tai nạn giao thông thương tâm do người dân vượt ngầm tràn nguy hiểm.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GIẢI PHÁP TỔNG THỂ: CẢNH BÁO TỰ ĐỘNG IOT</a:t>
            </a:r>
          </a:p>
          <a:p>
            <a:pPr>
              <a:spcBef>
                <a:spcPts val="400"/>
              </a:spcBef>
              <a:defRPr sz="1100" b="1">
                <a:solidFill>
                  <a:srgbClr val="0EA5E9"/>
                </a:solidFill>
                <a:latin typeface="Segoe UI"/>
              </a:defRPr>
            </a:pPr>
            <a:r>
              <a:t>THIẾT KẾ GIẢI PHÁP</a:t>
            </a:r>
          </a:p>
        </p:txBody>
      </p:sp>
      <p:sp>
        <p:nvSpPr>
          <p:cNvPr id="4" name="Rounded Rectangle 3"/>
          <p:cNvSpPr/>
          <p:nvPr/>
        </p:nvSpPr>
        <p:spPr>
          <a:xfrm>
            <a:off x="731520" y="1645920"/>
            <a:ext cx="548640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93776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Kiến Trúc Hoạt Động Khép Kín</a:t>
            </a:r>
          </a:p>
          <a:p>
            <a:pPr>
              <a:lnSpc>
                <a:spcPct val="125000"/>
              </a:lnSpc>
              <a:spcAft>
                <a:spcPts val="800"/>
              </a:spcAft>
              <a:defRPr sz="1300">
                <a:solidFill>
                  <a:srgbClr val="F8FAFC"/>
                </a:solidFill>
                <a:latin typeface="Segoe UI"/>
              </a:defRPr>
            </a:pPr>
            <a:r>
              <a:t>Hệ thống là sự kết hợp tối ưu giữa cảm biến phần cứng ngoài thực địa và hạ tầng số giám sát tập trung:</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 Tự động thu thập dữ liệu: Sử dụng cảm biến siêu âm công nghệ cao đo khoảng cách mặt nước liên tục.</a:t>
            </a:r>
          </a:p>
          <a:p>
            <a:pPr>
              <a:lnSpc>
                <a:spcPct val="125000"/>
              </a:lnSpc>
              <a:spcAft>
                <a:spcPts val="800"/>
              </a:spcAft>
              <a:defRPr sz="1300">
                <a:solidFill>
                  <a:srgbClr val="F8FAFC"/>
                </a:solidFill>
                <a:latin typeface="Segoe UI"/>
              </a:defRPr>
            </a:pPr>
            <a:r>
              <a:t>• Phản ứng tại chỗ tức thời: Tự động kích hoạt còi hú cường độ lớn, hệ thống đèn chớp đỏ cảnh báo sớm.</a:t>
            </a:r>
          </a:p>
          <a:p>
            <a:pPr>
              <a:lnSpc>
                <a:spcPct val="125000"/>
              </a:lnSpc>
              <a:spcAft>
                <a:spcPts val="800"/>
              </a:spcAft>
              <a:defRPr sz="1300">
                <a:solidFill>
                  <a:srgbClr val="F8FAFC"/>
                </a:solidFill>
                <a:latin typeface="Segoe UI"/>
              </a:defRPr>
            </a:pPr>
            <a:r>
              <a:t>• Ngăn chặn vật lý chủ động: Động cơ servo điều khiển hạ rào chắn Barie vật lý chặn đường giao thông.</a:t>
            </a:r>
          </a:p>
          <a:p>
            <a:pPr>
              <a:lnSpc>
                <a:spcPct val="125000"/>
              </a:lnSpc>
              <a:spcAft>
                <a:spcPts val="800"/>
              </a:spcAft>
              <a:defRPr sz="1300">
                <a:solidFill>
                  <a:srgbClr val="F8FAFC"/>
                </a:solidFill>
                <a:latin typeface="Segoe UI"/>
              </a:defRPr>
            </a:pPr>
            <a:r>
              <a:t>• Số hóa thông tin: Truyền tải dữ liệu thời gian thực lên bản đồ số của Web App quản lý tập trung qua mạng 4G.</a:t>
            </a:r>
          </a:p>
        </p:txBody>
      </p:sp>
      <p:sp>
        <p:nvSpPr>
          <p:cNvPr id="6" name="Rounded Rectangle 5"/>
          <p:cNvSpPr/>
          <p:nvPr/>
        </p:nvSpPr>
        <p:spPr>
          <a:xfrm>
            <a:off x="6675120" y="1645920"/>
            <a:ext cx="4754880" cy="4297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400"/>
              </a:spcAft>
              <a:defRPr sz="1800" b="1">
                <a:solidFill>
                  <a:srgbClr val="F8FAFC"/>
                </a:solidFill>
                <a:latin typeface="Segoe UI"/>
              </a:defRPr>
            </a:pPr>
            <a:r>
              <a:t>SƠ ĐỒ NGUYÊN LÝ HOẠT ĐỘNG</a:t>
            </a:r>
          </a:p>
          <a:p>
            <a:pPr algn="ctr">
              <a:spcAft>
                <a:spcPts val="1000"/>
              </a:spcAft>
              <a:defRPr sz="1300" b="0">
                <a:solidFill>
                  <a:srgbClr val="94A3B8"/>
                </a:solidFill>
                <a:latin typeface="Segoe UI"/>
              </a:defRPr>
            </a:pPr>
            <a:r>
              <a:t>CẢM BIẾN SIÊU ÂM (Đo mực nước dâng)</a:t>
            </a:r>
          </a:p>
          <a:p>
            <a:pPr algn="ctr">
              <a:spcAft>
                <a:spcPts val="1000"/>
              </a:spcAft>
              <a:defRPr sz="1300" b="0">
                <a:solidFill>
                  <a:srgbClr val="0EA5E9"/>
                </a:solidFill>
                <a:latin typeface="Segoe UI"/>
              </a:defRPr>
            </a:pPr>
            <a:r>
              <a:t>↓ (Tín hiệu kích hoạt truyền biên)</a:t>
            </a:r>
          </a:p>
          <a:p>
            <a:pPr algn="ctr">
              <a:spcAft>
                <a:spcPts val="1000"/>
              </a:spcAft>
              <a:defRPr sz="1300" b="1">
                <a:solidFill>
                  <a:srgbClr val="94A3B8"/>
                </a:solidFill>
                <a:latin typeface="Segoe UI"/>
              </a:defRPr>
            </a:pPr>
            <a:r>
              <a:t>BỘ VI ĐIỀU KHIỂN TRUNG TÂM ESP32</a:t>
            </a:r>
          </a:p>
          <a:p>
            <a:pPr algn="ctr">
              <a:spcAft>
                <a:spcPts val="1000"/>
              </a:spcAft>
              <a:defRPr sz="1300" b="0">
                <a:solidFill>
                  <a:srgbClr val="0EA5E9"/>
                </a:solidFill>
                <a:latin typeface="Segoe UI"/>
              </a:defRPr>
            </a:pPr>
            <a:r>
              <a:t>↓ (Kích hoạt ngoại vi đồng thời)</a:t>
            </a:r>
          </a:p>
          <a:p>
            <a:pPr algn="ctr">
              <a:spcAft>
                <a:spcPts val="1000"/>
              </a:spcAft>
              <a:defRPr sz="1300" b="1">
                <a:solidFill>
                  <a:srgbClr val="94A3B8"/>
                </a:solidFill>
                <a:latin typeface="Segoe UI"/>
              </a:defRPr>
            </a:pPr>
            <a:r>
              <a:t>BARIE ĐÓNG / CÒI HÚ / WEB APP ĐỒNG BỘ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MÔ HÌNH KIẾN TRÚC CÔNG NGHỆ 3 TẦNG</a:t>
            </a:r>
          </a:p>
          <a:p>
            <a:pPr>
              <a:spcBef>
                <a:spcPts val="400"/>
              </a:spcBef>
              <a:defRPr sz="1100" b="1">
                <a:solidFill>
                  <a:srgbClr val="0EA5E9"/>
                </a:solidFill>
                <a:latin typeface="Segoe UI"/>
              </a:defRPr>
            </a:pPr>
            <a:r>
              <a:t>CẤU TRÚC HỆ THỐNG</a:t>
            </a:r>
          </a:p>
        </p:txBody>
      </p:sp>
      <p:sp>
        <p:nvSpPr>
          <p:cNvPr id="4" name="Rounded Rectangle 3"/>
          <p:cNvSpPr/>
          <p:nvPr/>
        </p:nvSpPr>
        <p:spPr>
          <a:xfrm>
            <a:off x="731520" y="1645920"/>
            <a:ext cx="32918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1. Tầng Thu Thập</a:t>
            </a:r>
          </a:p>
          <a:p>
            <a:pPr>
              <a:lnSpc>
                <a:spcPct val="125000"/>
              </a:lnSpc>
              <a:spcAft>
                <a:spcPts val="800"/>
              </a:spcAft>
              <a:defRPr sz="1300">
                <a:solidFill>
                  <a:srgbClr val="F8FAFC"/>
                </a:solidFill>
                <a:latin typeface="Segoe UI"/>
              </a:defRPr>
            </a:pPr>
            <a:r>
              <a:t>Cảm biến siêu âm công nghiệp JSN-SR04T chống nước, bọc silicon ngoài trời chịu nhiệt tốt.</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Đo đạc khoảng cách mặt nước chính xác từng milimet, hoạt động liên tục bất kể sương mù, bão gió.</a:t>
            </a:r>
          </a:p>
        </p:txBody>
      </p:sp>
      <p:sp>
        <p:nvSpPr>
          <p:cNvPr id="6" name="Rounded Rectangle 5"/>
          <p:cNvSpPr/>
          <p:nvPr/>
        </p:nvSpPr>
        <p:spPr>
          <a:xfrm>
            <a:off x="4389120" y="1645920"/>
            <a:ext cx="3291840" cy="429768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2. Tầng Xử Lý Biên</a:t>
            </a:r>
          </a:p>
          <a:p>
            <a:pPr>
              <a:lnSpc>
                <a:spcPct val="125000"/>
              </a:lnSpc>
              <a:spcAft>
                <a:spcPts val="800"/>
              </a:spcAft>
              <a:defRPr sz="1300">
                <a:solidFill>
                  <a:srgbClr val="F8FAFC"/>
                </a:solidFill>
                <a:latin typeface="Segoe UI"/>
              </a:defRPr>
            </a:pPr>
            <a:r>
              <a:t>Vi điều khiển ESP32 xử lý luồng dữ liệu trung tâm, lập trình bằng Arduino IDE tối ưu.</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Đưa ra quyết định kích hoạt Barie, còi hú ngay lập tức chỉ trong 0.5 giây khi phát hiện nguy cấp.</a:t>
            </a:r>
          </a:p>
        </p:txBody>
      </p:sp>
      <p:sp>
        <p:nvSpPr>
          <p:cNvPr id="8" name="Rounded Rectangle 7"/>
          <p:cNvSpPr/>
          <p:nvPr/>
        </p:nvSpPr>
        <p:spPr>
          <a:xfrm>
            <a:off x="8046720" y="1645920"/>
            <a:ext cx="32918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3. Tầng Giám Sát</a:t>
            </a:r>
          </a:p>
          <a:p>
            <a:pPr>
              <a:lnSpc>
                <a:spcPct val="125000"/>
              </a:lnSpc>
              <a:spcAft>
                <a:spcPts val="800"/>
              </a:spcAft>
              <a:defRPr sz="1300">
                <a:solidFill>
                  <a:srgbClr val="F8FAFC"/>
                </a:solidFill>
                <a:latin typeface="Segoe UI"/>
              </a:defRPr>
            </a:pPr>
            <a:r>
              <a:t>Hạ tầng mạng truyền tải dữ liệu thời gian thực (Real-time).</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Web App trung tâm hiển thị trực quan thông tin cảnh báo, thời tiết và cho phép ghi đè lệnh điều khiển từ xa.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THÀNH PHẦN LINH KIỆN PHẦN CỨNG TỐI ƯU</a:t>
            </a:r>
          </a:p>
          <a:p>
            <a:pPr>
              <a:spcBef>
                <a:spcPts val="400"/>
              </a:spcBef>
              <a:defRPr sz="1100" b="1">
                <a:solidFill>
                  <a:srgbClr val="0EA5E9"/>
                </a:solidFill>
                <a:latin typeface="Segoe UI"/>
              </a:defRPr>
            </a:pPr>
            <a:r>
              <a:t>GIẢI PHÁP VẬT LÝ</a:t>
            </a:r>
          </a:p>
        </p:txBody>
      </p:sp>
      <p:graphicFrame>
        <p:nvGraphicFramePr>
          <p:cNvPr id="4" name="Table 3"/>
          <p:cNvGraphicFramePr>
            <a:graphicFrameLocks noGrp="1"/>
          </p:cNvGraphicFramePr>
          <p:nvPr/>
        </p:nvGraphicFramePr>
        <p:xfrm>
          <a:off x="731520" y="1645920"/>
          <a:ext cx="10698480" cy="4114800"/>
        </p:xfrm>
        <a:graphic>
          <a:graphicData uri="http://schemas.openxmlformats.org/drawingml/2006/table">
            <a:tbl>
              <a:tblPr firstRow="1" bandRow="1">
                <a:tableStyleId>{5C22544A-7EE6-4342-B048-85BDC9FD1C3A}</a:tableStyleId>
              </a:tblPr>
              <a:tblGrid>
                <a:gridCol w="2743200"/>
                <a:gridCol w="4297680"/>
                <a:gridCol w="3657600"/>
              </a:tblGrid>
              <a:tr h="685800">
                <a:tc>
                  <a:txBody>
                    <a:bodyPr/>
                    <a:lstStyle/>
                    <a:p>
                      <a:pPr algn="ctr">
                        <a:defRPr sz="1400" b="1">
                          <a:solidFill>
                            <a:srgbClr val="F8FAFC"/>
                          </a:solidFill>
                          <a:latin typeface="Segoe UI"/>
                        </a:defRPr>
                      </a:pPr>
                      <a:r>
                        <a:t>Tên Linh Kiện</a:t>
                      </a:r>
                    </a:p>
                  </a:txBody>
                  <a:tcPr>
                    <a:solidFill>
                      <a:srgbClr val="1E3A8A"/>
                    </a:solidFill>
                  </a:tcPr>
                </a:tc>
                <a:tc>
                  <a:txBody>
                    <a:bodyPr/>
                    <a:lstStyle/>
                    <a:p>
                      <a:pPr algn="ctr">
                        <a:defRPr sz="1400" b="1">
                          <a:solidFill>
                            <a:srgbClr val="F8FAFC"/>
                          </a:solidFill>
                          <a:latin typeface="Segoe UI"/>
                        </a:defRPr>
                      </a:pPr>
                      <a:r>
                        <a:t>Vai Trò Kỹ Thuật Trong Hệ Thống</a:t>
                      </a:r>
                    </a:p>
                  </a:txBody>
                  <a:tcPr>
                    <a:solidFill>
                      <a:srgbClr val="1E3A8A"/>
                    </a:solidFill>
                  </a:tcPr>
                </a:tc>
                <a:tc>
                  <a:txBody>
                    <a:bodyPr/>
                    <a:lstStyle/>
                    <a:p>
                      <a:pPr algn="ctr">
                        <a:defRPr sz="1400" b="1">
                          <a:solidFill>
                            <a:srgbClr val="F8FAFC"/>
                          </a:solidFill>
                          <a:latin typeface="Segoe UI"/>
                        </a:defRPr>
                      </a:pPr>
                      <a:r>
                        <a:t>Đặc Tính Ưu Việt Thực Tế</a:t>
                      </a:r>
                    </a:p>
                  </a:txBody>
                  <a:tcPr>
                    <a:solidFill>
                      <a:srgbClr val="1E3A8A"/>
                    </a:solidFill>
                  </a:tcPr>
                </a:tc>
              </a:tr>
              <a:tr h="685800">
                <a:tc>
                  <a:txBody>
                    <a:bodyPr/>
                    <a:lstStyle/>
                    <a:p>
                      <a:pPr algn="ctr">
                        <a:defRPr sz="1200" b="1">
                          <a:solidFill>
                            <a:srgbClr val="0EA5E9"/>
                          </a:solidFill>
                          <a:latin typeface="Segoe UI"/>
                        </a:defRPr>
                      </a:pPr>
                      <a:r>
                        <a:t>ESP32 Microcontroller</a:t>
                      </a:r>
                    </a:p>
                  </a:txBody>
                  <a:tcPr>
                    <a:solidFill>
                      <a:srgbClr val="1E293B"/>
                    </a:solidFill>
                  </a:tcPr>
                </a:tc>
                <a:tc>
                  <a:txBody>
                    <a:bodyPr/>
                    <a:lstStyle/>
                    <a:p>
                      <a:pPr algn="l">
                        <a:defRPr sz="1200" b="0">
                          <a:solidFill>
                            <a:srgbClr val="F8FAFC"/>
                          </a:solidFill>
                          <a:latin typeface="Segoe UI"/>
                        </a:defRPr>
                      </a:pPr>
                      <a:r>
                        <a:t>Bộ xử lý trung tâm, thu nhận dữ liệu cảm biến và gửi lệnh chấp hành.</a:t>
                      </a:r>
                    </a:p>
                  </a:txBody>
                  <a:tcPr>
                    <a:solidFill>
                      <a:srgbClr val="1E293B"/>
                    </a:solidFill>
                  </a:tcPr>
                </a:tc>
                <a:tc>
                  <a:txBody>
                    <a:bodyPr/>
                    <a:lstStyle/>
                    <a:p>
                      <a:pPr algn="l">
                        <a:defRPr sz="1200" b="0">
                          <a:solidFill>
                            <a:srgbClr val="F8FAFC"/>
                          </a:solidFill>
                          <a:latin typeface="Segoe UI"/>
                        </a:defRPr>
                      </a:pPr>
                      <a:r>
                        <a:t>Giá thành rất rẻ, tích hợp sẵn Wi-Fi/Bluetooth, hỗ trợ module 4G.</a:t>
                      </a:r>
                    </a:p>
                  </a:txBody>
                  <a:tcPr>
                    <a:solidFill>
                      <a:srgbClr val="1E293B"/>
                    </a:solidFill>
                  </a:tcPr>
                </a:tc>
              </a:tr>
              <a:tr h="685800">
                <a:tc>
                  <a:txBody>
                    <a:bodyPr/>
                    <a:lstStyle/>
                    <a:p>
                      <a:pPr algn="ctr">
                        <a:defRPr sz="1200" b="1">
                          <a:solidFill>
                            <a:srgbClr val="0EA5E9"/>
                          </a:solidFill>
                          <a:latin typeface="Segoe UI"/>
                        </a:defRPr>
                      </a:pPr>
                      <a:r>
                        <a:t>Cảm biến JSN-SR04T</a:t>
                      </a:r>
                    </a:p>
                  </a:txBody>
                  <a:tcPr>
                    <a:solidFill>
                      <a:srgbClr val="1E293B"/>
                    </a:solidFill>
                  </a:tcPr>
                </a:tc>
                <a:tc>
                  <a:txBody>
                    <a:bodyPr/>
                    <a:lstStyle/>
                    <a:p>
                      <a:pPr algn="l">
                        <a:defRPr sz="1200" b="0">
                          <a:solidFill>
                            <a:srgbClr val="F8FAFC"/>
                          </a:solidFill>
                          <a:latin typeface="Segoe UI"/>
                        </a:defRPr>
                      </a:pPr>
                      <a:r>
                        <a:t>Đo khoảng cách mực nước ngầm tràn bằng sóng siêu âm phản hồi.</a:t>
                      </a:r>
                    </a:p>
                  </a:txBody>
                  <a:tcPr>
                    <a:solidFill>
                      <a:srgbClr val="1E293B"/>
                    </a:solidFill>
                  </a:tcPr>
                </a:tc>
                <a:tc>
                  <a:txBody>
                    <a:bodyPr/>
                    <a:lstStyle/>
                    <a:p>
                      <a:pPr algn="l">
                        <a:defRPr sz="1200" b="0">
                          <a:solidFill>
                            <a:srgbClr val="F8FAFC"/>
                          </a:solidFill>
                          <a:latin typeface="Segoe UI"/>
                        </a:defRPr>
                      </a:pPr>
                      <a:r>
                        <a:t>Chống thấm nước hoàn hảo, bền bỉ ngoài trời mưa bão lâu ngày.</a:t>
                      </a:r>
                    </a:p>
                  </a:txBody>
                  <a:tcPr>
                    <a:solidFill>
                      <a:srgbClr val="1E293B"/>
                    </a:solidFill>
                  </a:tcPr>
                </a:tc>
              </a:tr>
              <a:tr h="685800">
                <a:tc>
                  <a:txBody>
                    <a:bodyPr/>
                    <a:lstStyle/>
                    <a:p>
                      <a:pPr algn="ctr">
                        <a:defRPr sz="1200" b="1">
                          <a:solidFill>
                            <a:srgbClr val="0EA5E9"/>
                          </a:solidFill>
                          <a:latin typeface="Segoe UI"/>
                        </a:defRPr>
                      </a:pPr>
                      <a:r>
                        <a:t>Động Cơ Servo Barie</a:t>
                      </a:r>
                    </a:p>
                  </a:txBody>
                  <a:tcPr>
                    <a:solidFill>
                      <a:srgbClr val="1E293B"/>
                    </a:solidFill>
                  </a:tcPr>
                </a:tc>
                <a:tc>
                  <a:txBody>
                    <a:bodyPr/>
                    <a:lstStyle/>
                    <a:p>
                      <a:pPr algn="l">
                        <a:defRPr sz="1200" b="0">
                          <a:solidFill>
                            <a:srgbClr val="F8FAFC"/>
                          </a:solidFill>
                          <a:latin typeface="Segoe UI"/>
                        </a:defRPr>
                      </a:pPr>
                      <a:r>
                        <a:t>Nâng/hạ thanh chắn vật lý ngăn cản giao thông tạm thời khi ngập sâu.</a:t>
                      </a:r>
                    </a:p>
                  </a:txBody>
                  <a:tcPr>
                    <a:solidFill>
                      <a:srgbClr val="1E293B"/>
                    </a:solidFill>
                  </a:tcPr>
                </a:tc>
                <a:tc>
                  <a:txBody>
                    <a:bodyPr/>
                    <a:lstStyle/>
                    <a:p>
                      <a:pPr algn="l">
                        <a:defRPr sz="1200" b="0">
                          <a:solidFill>
                            <a:srgbClr val="F8FAFC"/>
                          </a:solidFill>
                          <a:latin typeface="Segoe UI"/>
                        </a:defRPr>
                      </a:pPr>
                      <a:r>
                        <a:t>Momen xoắn kéo mạnh, thời gian hạ chắn an toàn dưới 5 giây.</a:t>
                      </a:r>
                    </a:p>
                  </a:txBody>
                  <a:tcPr>
                    <a:solidFill>
                      <a:srgbClr val="1E293B"/>
                    </a:solidFill>
                  </a:tcPr>
                </a:tc>
              </a:tr>
              <a:tr h="685800">
                <a:tc>
                  <a:txBody>
                    <a:bodyPr/>
                    <a:lstStyle/>
                    <a:p>
                      <a:pPr algn="ctr">
                        <a:defRPr sz="1200" b="1">
                          <a:solidFill>
                            <a:srgbClr val="0EA5E9"/>
                          </a:solidFill>
                          <a:latin typeface="Segoe UI"/>
                        </a:defRPr>
                      </a:pPr>
                      <a:r>
                        <a:t>Còi Hú &amp; Đèn LED</a:t>
                      </a:r>
                    </a:p>
                  </a:txBody>
                  <a:tcPr>
                    <a:solidFill>
                      <a:srgbClr val="1E293B"/>
                    </a:solidFill>
                  </a:tcPr>
                </a:tc>
                <a:tc>
                  <a:txBody>
                    <a:bodyPr/>
                    <a:lstStyle/>
                    <a:p>
                      <a:pPr algn="l">
                        <a:defRPr sz="1200" b="0">
                          <a:solidFill>
                            <a:srgbClr val="F8FAFC"/>
                          </a:solidFill>
                          <a:latin typeface="Segoe UI"/>
                        </a:defRPr>
                      </a:pPr>
                      <a:r>
                        <a:t>Cảnh báo khẩn cấp tại chỗ cho người tham gia giao thông thấy từ xa.</a:t>
                      </a:r>
                    </a:p>
                  </a:txBody>
                  <a:tcPr>
                    <a:solidFill>
                      <a:srgbClr val="1E293B"/>
                    </a:solidFill>
                  </a:tcPr>
                </a:tc>
                <a:tc>
                  <a:txBody>
                    <a:bodyPr/>
                    <a:lstStyle/>
                    <a:p>
                      <a:pPr algn="l">
                        <a:defRPr sz="1200" b="0">
                          <a:solidFill>
                            <a:srgbClr val="F8FAFC"/>
                          </a:solidFill>
                          <a:latin typeface="Segoe UI"/>
                        </a:defRPr>
                      </a:pPr>
                      <a:r>
                        <a:t>Âm lượng lớn 110dB, đèn flash đỏ nhấp nháy phát xạ xa trên 100m.</a:t>
                      </a:r>
                    </a:p>
                  </a:txBody>
                  <a:tcPr>
                    <a:solidFill>
                      <a:srgbClr val="1E293B"/>
                    </a:solidFill>
                  </a:tcPr>
                </a:tc>
              </a:tr>
              <a:tr h="685800">
                <a:tc>
                  <a:txBody>
                    <a:bodyPr/>
                    <a:lstStyle/>
                    <a:p>
                      <a:pPr algn="ctr">
                        <a:defRPr sz="1200" b="1">
                          <a:solidFill>
                            <a:srgbClr val="0EA5E9"/>
                          </a:solidFill>
                          <a:latin typeface="Segoe UI"/>
                        </a:defRPr>
                      </a:pPr>
                      <a:r>
                        <a:t>Pin Solar &amp; Mạch BMS</a:t>
                      </a:r>
                    </a:p>
                  </a:txBody>
                  <a:tcPr>
                    <a:solidFill>
                      <a:srgbClr val="1E293B"/>
                    </a:solidFill>
                  </a:tcPr>
                </a:tc>
                <a:tc>
                  <a:txBody>
                    <a:bodyPr/>
                    <a:lstStyle/>
                    <a:p>
                      <a:pPr algn="l">
                        <a:defRPr sz="1200" b="0">
                          <a:solidFill>
                            <a:srgbClr val="F8FAFC"/>
                          </a:solidFill>
                          <a:latin typeface="Segoe UI"/>
                        </a:defRPr>
                      </a:pPr>
                      <a:r>
                        <a:t>Cung cấp năng lượng xanh độc lập cho hệ thống vận hành liên tục.</a:t>
                      </a:r>
                    </a:p>
                  </a:txBody>
                  <a:tcPr>
                    <a:solidFill>
                      <a:srgbClr val="1E293B"/>
                    </a:solidFill>
                  </a:tcPr>
                </a:tc>
                <a:tc>
                  <a:txBody>
                    <a:bodyPr/>
                    <a:lstStyle/>
                    <a:p>
                      <a:pPr algn="l">
                        <a:defRPr sz="1200" b="0">
                          <a:solidFill>
                            <a:srgbClr val="F8FAFC"/>
                          </a:solidFill>
                          <a:latin typeface="Segoe UI"/>
                        </a:defRPr>
                      </a:pPr>
                      <a:r>
                        <a:t>Duy trì hoạt động ngay cả khi vùng cao bị cắt điện lưới do thiên tai.</a:t>
                      </a:r>
                    </a:p>
                  </a:txBody>
                  <a:tcPr>
                    <a:solidFill>
                      <a:srgbClr val="1E293B"/>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QUY TRÌNH VẬN HÀNH TỰ ĐỘNG THEO MỰC NƯỚC</a:t>
            </a:r>
          </a:p>
          <a:p>
            <a:pPr>
              <a:spcBef>
                <a:spcPts val="400"/>
              </a:spcBef>
              <a:defRPr sz="1100" b="1">
                <a:solidFill>
                  <a:srgbClr val="0EA5E9"/>
                </a:solidFill>
                <a:latin typeface="Segoe UI"/>
              </a:defRPr>
            </a:pPr>
            <a:r>
              <a:t>KỊCH BẢN HOẠT ĐỘNG</a:t>
            </a:r>
          </a:p>
        </p:txBody>
      </p:sp>
      <p:sp>
        <p:nvSpPr>
          <p:cNvPr id="4" name="Rectangle 3"/>
          <p:cNvSpPr/>
          <p:nvPr/>
        </p:nvSpPr>
        <p:spPr>
          <a:xfrm>
            <a:off x="1371600" y="3474720"/>
            <a:ext cx="9418320" cy="45720"/>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828800" y="3200400"/>
            <a:ext cx="594360" cy="59436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6032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2011680" cy="914400"/>
          </a:xfrm>
          <a:prstGeom prst="rect">
            <a:avLst/>
          </a:prstGeom>
          <a:noFill/>
        </p:spPr>
        <p:txBody>
          <a:bodyPr wrap="square" lIns="0" tIns="0" rIns="0" bIns="0">
            <a:spAutoFit/>
          </a:bodyPr>
          <a:lstStyle/>
          <a:p>
            <a:pPr>
              <a:spcAft>
                <a:spcPts val="1200"/>
              </a:spcAft>
              <a:defRPr sz="1800" b="1">
                <a:solidFill>
                  <a:srgbClr val="0EA5E9"/>
                </a:solidFill>
                <a:latin typeface="Segoe UI"/>
              </a:defRPr>
            </a:pPr>
            <a:r>
              <a:t>MỨC 1 - An Toàn</a:t>
            </a:r>
          </a:p>
          <a:p>
            <a:pPr>
              <a:lnSpc>
                <a:spcPct val="125000"/>
              </a:lnSpc>
              <a:spcAft>
                <a:spcPts val="800"/>
              </a:spcAft>
              <a:defRPr sz="1300">
                <a:solidFill>
                  <a:srgbClr val="F8FAFC"/>
                </a:solidFill>
                <a:latin typeface="Segoe UI"/>
              </a:defRPr>
            </a:pPr>
            <a:r>
              <a:t>Nước dưới ngưỡng nguy hiểm. Barie mở góc 90°. Đèn xanh sáng cho xe cộ lưu thông.</a:t>
            </a:r>
          </a:p>
        </p:txBody>
      </p:sp>
      <p:sp>
        <p:nvSpPr>
          <p:cNvPr id="8" name="Oval 7"/>
          <p:cNvSpPr/>
          <p:nvPr/>
        </p:nvSpPr>
        <p:spPr>
          <a:xfrm>
            <a:off x="4572000" y="3200400"/>
            <a:ext cx="594360" cy="594360"/>
          </a:xfrm>
          <a:prstGeom prst="ellipse">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4114800"/>
            <a:ext cx="256032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9040" y="4389120"/>
            <a:ext cx="2011680" cy="914400"/>
          </a:xfrm>
          <a:prstGeom prst="rect">
            <a:avLst/>
          </a:prstGeom>
          <a:noFill/>
        </p:spPr>
        <p:txBody>
          <a:bodyPr wrap="square" lIns="0" tIns="0" rIns="0" bIns="0">
            <a:spAutoFit/>
          </a:bodyPr>
          <a:lstStyle/>
          <a:p>
            <a:pPr>
              <a:spcAft>
                <a:spcPts val="1200"/>
              </a:spcAft>
              <a:defRPr sz="1800" b="1">
                <a:solidFill>
                  <a:srgbClr val="0EA5E9"/>
                </a:solidFill>
                <a:latin typeface="Segoe UI"/>
              </a:defRPr>
            </a:pPr>
            <a:r>
              <a:t>MỨC 2 - Cảnh Báo</a:t>
            </a:r>
          </a:p>
          <a:p>
            <a:pPr>
              <a:lnSpc>
                <a:spcPct val="125000"/>
              </a:lnSpc>
              <a:spcAft>
                <a:spcPts val="800"/>
              </a:spcAft>
              <a:defRPr sz="1300">
                <a:solidFill>
                  <a:srgbClr val="F8FAFC"/>
                </a:solidFill>
                <a:latin typeface="Segoe UI"/>
              </a:defRPr>
            </a:pPr>
            <a:r>
              <a:t>Nước chạm ngưỡng báo động. Đèn LED đỏ nhấp nháy, còi hú phát tín hiệu nhắc nhở.</a:t>
            </a:r>
          </a:p>
        </p:txBody>
      </p:sp>
      <p:sp>
        <p:nvSpPr>
          <p:cNvPr id="11" name="Oval 10"/>
          <p:cNvSpPr/>
          <p:nvPr/>
        </p:nvSpPr>
        <p:spPr>
          <a:xfrm>
            <a:off x="7315200" y="3200400"/>
            <a:ext cx="594360" cy="594360"/>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0" y="1645920"/>
            <a:ext cx="256032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920240"/>
            <a:ext cx="2011680" cy="914400"/>
          </a:xfrm>
          <a:prstGeom prst="rect">
            <a:avLst/>
          </a:prstGeom>
          <a:noFill/>
        </p:spPr>
        <p:txBody>
          <a:bodyPr wrap="square" lIns="0" tIns="0" rIns="0" bIns="0">
            <a:spAutoFit/>
          </a:bodyPr>
          <a:lstStyle/>
          <a:p>
            <a:pPr>
              <a:spcAft>
                <a:spcPts val="1200"/>
              </a:spcAft>
              <a:defRPr sz="1800" b="1">
                <a:solidFill>
                  <a:srgbClr val="0EA5E9"/>
                </a:solidFill>
                <a:latin typeface="Segoe UI"/>
              </a:defRPr>
            </a:pPr>
            <a:r>
              <a:t>MỨC 3 - Nguy Hiểm</a:t>
            </a:r>
          </a:p>
          <a:p>
            <a:pPr>
              <a:lnSpc>
                <a:spcPct val="125000"/>
              </a:lnSpc>
              <a:spcAft>
                <a:spcPts val="800"/>
              </a:spcAft>
              <a:defRPr sz="1300">
                <a:solidFill>
                  <a:srgbClr val="F8FAFC"/>
                </a:solidFill>
                <a:latin typeface="Segoe UI"/>
              </a:defRPr>
            </a:pPr>
            <a:r>
              <a:t>Nước vượt ngưỡng an toàn. Barie tự động hạ xuống lập tức chặn ngầm tràn, báo Web App.</a:t>
            </a:r>
          </a:p>
        </p:txBody>
      </p:sp>
      <p:sp>
        <p:nvSpPr>
          <p:cNvPr id="14" name="Oval 13"/>
          <p:cNvSpPr/>
          <p:nvPr/>
        </p:nvSpPr>
        <p:spPr>
          <a:xfrm>
            <a:off x="10058400" y="3200400"/>
            <a:ext cx="594360" cy="59436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961120" y="4114800"/>
            <a:ext cx="256032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4389120"/>
            <a:ext cx="2011680" cy="914400"/>
          </a:xfrm>
          <a:prstGeom prst="rect">
            <a:avLst/>
          </a:prstGeom>
          <a:noFill/>
        </p:spPr>
        <p:txBody>
          <a:bodyPr wrap="square" lIns="0" tIns="0" rIns="0" bIns="0">
            <a:spAutoFit/>
          </a:bodyPr>
          <a:lstStyle/>
          <a:p>
            <a:pPr>
              <a:spcAft>
                <a:spcPts val="1200"/>
              </a:spcAft>
              <a:defRPr sz="1800" b="1">
                <a:solidFill>
                  <a:srgbClr val="0EA5E9"/>
                </a:solidFill>
                <a:latin typeface="Segoe UI"/>
              </a:defRPr>
            </a:pPr>
            <a:r>
              <a:t>MỨC 4 - Khôi Phục</a:t>
            </a:r>
          </a:p>
          <a:p>
            <a:pPr>
              <a:lnSpc>
                <a:spcPct val="125000"/>
              </a:lnSpc>
              <a:spcAft>
                <a:spcPts val="800"/>
              </a:spcAft>
              <a:defRPr sz="1300">
                <a:solidFill>
                  <a:srgbClr val="F8FAFC"/>
                </a:solidFill>
                <a:latin typeface="Segoe UI"/>
              </a:defRPr>
            </a:pPr>
            <a:r>
              <a:t>Nước rút an toàn ổn định. Hệ thống tự động nâng Barie lên trả lại trật tự giao thông.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TÍNH MỚI VÀ ĐIỂM SÁNG TẠO ĐỘT PHÁ LỚN</a:t>
            </a:r>
          </a:p>
          <a:p>
            <a:pPr>
              <a:spcBef>
                <a:spcPts val="400"/>
              </a:spcBef>
              <a:defRPr sz="1100" b="1">
                <a:solidFill>
                  <a:srgbClr val="0EA5E9"/>
                </a:solidFill>
                <a:latin typeface="Segoe UI"/>
              </a:defRPr>
            </a:pPr>
            <a:r>
              <a:t>ĐỔI MỚI SÁNG TẠO</a:t>
            </a:r>
          </a:p>
        </p:txBody>
      </p:sp>
      <p:sp>
        <p:nvSpPr>
          <p:cNvPr id="4" name="Rounded Rectangle 3"/>
          <p:cNvSpPr/>
          <p:nvPr/>
        </p:nvSpPr>
        <p:spPr>
          <a:xfrm>
            <a:off x="731520" y="1645920"/>
            <a:ext cx="4114800" cy="4297680"/>
          </a:xfrm>
          <a:prstGeom prst="roundRect">
            <a:avLst/>
          </a:prstGeom>
          <a:solidFill>
            <a:srgbClr val="1E293B"/>
          </a:solidFill>
          <a:ln w="317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3000"/>
              </a:spcBef>
              <a:defRPr sz="8800" b="1">
                <a:solidFill>
                  <a:srgbClr val="EF4444"/>
                </a:solidFill>
                <a:latin typeface="Segoe UI"/>
              </a:defRPr>
            </a:pPr>
            <a:r>
              <a:t>100%</a:t>
            </a:r>
          </a:p>
          <a:p>
            <a:pPr algn="ctr">
              <a:defRPr sz="1800" b="1">
                <a:solidFill>
                  <a:srgbClr val="F8FAFC"/>
                </a:solidFill>
                <a:latin typeface="Segoe UI"/>
              </a:defRPr>
            </a:pPr>
            <a:r>
              <a:t>TỰ ĐỘNG HÓA VÀ SỐ HÓA</a:t>
            </a:r>
          </a:p>
        </p:txBody>
      </p:sp>
      <p:sp>
        <p:nvSpPr>
          <p:cNvPr id="5" name="Rounded Rectangle 4"/>
          <p:cNvSpPr/>
          <p:nvPr/>
        </p:nvSpPr>
        <p:spPr>
          <a:xfrm>
            <a:off x="5303520" y="1645920"/>
            <a:ext cx="612648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7840" y="1920240"/>
            <a:ext cx="557784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Ưu thế vượt trội hơn hẳn phương thức truyền thống</a:t>
            </a:r>
          </a:p>
          <a:p>
            <a:pPr>
              <a:lnSpc>
                <a:spcPct val="125000"/>
              </a:lnSpc>
              <a:spcAft>
                <a:spcPts val="800"/>
              </a:spcAft>
              <a:defRPr sz="1300">
                <a:solidFill>
                  <a:srgbClr val="F8FAFC"/>
                </a:solidFill>
                <a:latin typeface="Segoe UI"/>
              </a:defRPr>
            </a:pPr>
            <a:r>
              <a:t>✔ Khả năng hoạt động liên tục 24/7 không cần sức người túc trực hiện trường mưa gió.</a:t>
            </a:r>
          </a:p>
          <a:p>
            <a:pPr>
              <a:lnSpc>
                <a:spcPct val="125000"/>
              </a:lnSpc>
              <a:spcAft>
                <a:spcPts val="800"/>
              </a:spcAft>
              <a:defRPr sz="1300">
                <a:solidFill>
                  <a:srgbClr val="F8FAFC"/>
                </a:solidFill>
                <a:latin typeface="Segoe UI"/>
              </a:defRPr>
            </a:pPr>
            <a:r>
              <a:t>✔ Giao diện Web App giám sát trực quan: Hiển thị thời gian thực tọa độ ngầm tràn, thông số nước và tình hình thời tiết (mưa dông, mây mù) tại khu vực.</a:t>
            </a:r>
          </a:p>
          <a:p>
            <a:pPr>
              <a:lnSpc>
                <a:spcPct val="125000"/>
              </a:lnSpc>
              <a:spcAft>
                <a:spcPts val="800"/>
              </a:spcAft>
              <a:defRPr sz="1300">
                <a:solidFill>
                  <a:srgbClr val="F8FAFC"/>
                </a:solidFill>
                <a:latin typeface="Segoe UI"/>
              </a:defRPr>
            </a:pPr>
            <a:r>
              <a:t>✔ Chế độ điều khiển chủ động từ xa linh hoạt: Người quản trị có thể chủ động kích hoạt đóng/mở Barie sớm trước khi lũ đổ về dựa trên dự báo khí tượng.</a:t>
            </a:r>
          </a:p>
          <a:p>
            <a:pPr>
              <a:lnSpc>
                <a:spcPct val="125000"/>
              </a:lnSpc>
              <a:spcAft>
                <a:spcPts val="800"/>
              </a:spcAft>
              <a:defRPr sz="1300">
                <a:solidFill>
                  <a:srgbClr val="F8FAFC"/>
                </a:solidFill>
                <a:latin typeface="Segoe UI"/>
              </a:defRPr>
            </a:pPr>
            <a:r>
              <a:t>✔ Khả năng tích hợp mở rộng không giới hạn: Kết nối trực tiếp hệ thống Camera thực tế gửi ảnh realtime và kết nối API bản đồ ngập lụt địa phương.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KHẢ NĂNG NHÂN RỘNG VÀ ÁP DỤNG THỰC TIỄN</a:t>
            </a:r>
          </a:p>
          <a:p>
            <a:pPr>
              <a:spcBef>
                <a:spcPts val="400"/>
              </a:spcBef>
              <a:defRPr sz="1100" b="1">
                <a:solidFill>
                  <a:srgbClr val="0EA5E9"/>
                </a:solidFill>
                <a:latin typeface="Segoe UI"/>
              </a:defRPr>
            </a:pPr>
            <a:r>
              <a:t>TÍNH KHẢ THI ÁP DỤNG</a:t>
            </a:r>
          </a:p>
        </p:txBody>
      </p:sp>
      <p:sp>
        <p:nvSpPr>
          <p:cNvPr id="4" name="Rounded Rectangle 3"/>
          <p:cNvSpPr/>
          <p:nvPr/>
        </p:nvSpPr>
        <p:spPr>
          <a:xfrm>
            <a:off x="731520" y="1645920"/>
            <a:ext cx="530352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75488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Phạm Vi Triển Khai Thực Địa</a:t>
            </a:r>
          </a:p>
          <a:p>
            <a:pPr>
              <a:lnSpc>
                <a:spcPct val="125000"/>
              </a:lnSpc>
              <a:spcAft>
                <a:spcPts val="800"/>
              </a:spcAft>
              <a:defRPr sz="1300">
                <a:solidFill>
                  <a:srgbClr val="F8FAFC"/>
                </a:solidFill>
                <a:latin typeface="Segoe UI"/>
              </a:defRPr>
            </a:pPr>
            <a:r>
              <a:t>Hệ thống được thiết kế với tính thích ứng cực kỳ linh hoạt để nhân rộng nhanh chóng:</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 Các ngầm tràn, đập tràn giao thông vùng cao thường xuyên bị chia cắt bởi lũ quét dốc.</a:t>
            </a:r>
          </a:p>
          <a:p>
            <a:pPr>
              <a:lnSpc>
                <a:spcPct val="125000"/>
              </a:lnSpc>
              <a:spcAft>
                <a:spcPts val="800"/>
              </a:spcAft>
              <a:defRPr sz="1300">
                <a:solidFill>
                  <a:srgbClr val="F8FAFC"/>
                </a:solidFill>
                <a:latin typeface="Segoe UI"/>
              </a:defRPr>
            </a:pPr>
            <a:r>
              <a:t>• Các trục giao thông liên xã, liên thôn băng suối ngập cục bộ tại huyện Đakrông, Hướng Hóa...</a:t>
            </a:r>
          </a:p>
          <a:p>
            <a:pPr>
              <a:lnSpc>
                <a:spcPct val="125000"/>
              </a:lnSpc>
              <a:spcAft>
                <a:spcPts val="800"/>
              </a:spcAft>
              <a:defRPr sz="1300">
                <a:solidFill>
                  <a:srgbClr val="F8FAFC"/>
                </a:solidFill>
                <a:latin typeface="Segoe UI"/>
              </a:defRPr>
            </a:pPr>
            <a:r>
              <a:t>• Các điểm đen có nguy cơ sụt lún, sạt lở hoặc nước ngập sâu chưa có biển báo điện tử tại Quảng Trị.</a:t>
            </a:r>
          </a:p>
        </p:txBody>
      </p:sp>
      <p:sp>
        <p:nvSpPr>
          <p:cNvPr id="6" name="Rounded Rectangle 5"/>
          <p:cNvSpPr/>
          <p:nvPr/>
        </p:nvSpPr>
        <p:spPr>
          <a:xfrm>
            <a:off x="6400800" y="1645920"/>
            <a:ext cx="5029200" cy="429768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920240"/>
            <a:ext cx="448056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Yếu Tố Đảm Bảo Thành Công</a:t>
            </a:r>
          </a:p>
          <a:p>
            <a:pPr>
              <a:lnSpc>
                <a:spcPct val="125000"/>
              </a:lnSpc>
              <a:spcAft>
                <a:spcPts val="800"/>
              </a:spcAft>
              <a:defRPr sz="1300">
                <a:solidFill>
                  <a:srgbClr val="F8FAFC"/>
                </a:solidFill>
                <a:latin typeface="Segoe UI"/>
              </a:defRPr>
            </a:pPr>
            <a:r>
              <a:t>• Chi phí chế tạo thấp: Sử dụng linh kiện tiêu chuẩn, dễ dàng bảo trì, sửa chữa tự động hóa tại chỗ.</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 Kết nối mạng thông minh: Thiết bị kết nối linh hoạt thông qua Wifi hoặc sóng mạng 4G vùng sâu vùng xa.</a:t>
            </a:r>
          </a:p>
          <a:p>
            <a:pPr>
              <a:lnSpc>
                <a:spcPct val="125000"/>
              </a:lnSpc>
              <a:spcAft>
                <a:spcPts val="800"/>
              </a:spcAft>
              <a:defRPr sz="1300">
                <a:solidFill>
                  <a:srgbClr val="F8FAFC"/>
                </a:solidFill>
                <a:latin typeface="Segoe UI"/>
              </a:defRPr>
            </a:pPr>
          </a:p>
          <a:p>
            <a:pPr>
              <a:lnSpc>
                <a:spcPct val="125000"/>
              </a:lnSpc>
              <a:spcAft>
                <a:spcPts val="800"/>
              </a:spcAft>
              <a:defRPr sz="1300">
                <a:solidFill>
                  <a:srgbClr val="F8FAFC"/>
                </a:solidFill>
                <a:latin typeface="Segoe UI"/>
              </a:defRPr>
            </a:pPr>
            <a:r>
              <a:t>• Khả năng độc lập năng lượng: Tương thích tốt với hệ thống pin năng lượng mặt trời giúp hệ thống sống sót tối đa ngay cả trong thiên tai kéo dài.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LỢI ÍCH ĐỘT PHÁ VỀ KINH TẾ &amp; XÃ HỘI</a:t>
            </a:r>
          </a:p>
          <a:p>
            <a:pPr>
              <a:spcBef>
                <a:spcPts val="400"/>
              </a:spcBef>
              <a:defRPr sz="1100" b="1">
                <a:solidFill>
                  <a:srgbClr val="0EA5E9"/>
                </a:solidFill>
                <a:latin typeface="Segoe UI"/>
              </a:defRPr>
            </a:pPr>
            <a:r>
              <a:t>LỢI ÍCH MANG LẠI</a:t>
            </a:r>
          </a:p>
        </p:txBody>
      </p:sp>
      <p:sp>
        <p:nvSpPr>
          <p:cNvPr id="4" name="Rounded Rectangle 3"/>
          <p:cNvSpPr/>
          <p:nvPr/>
        </p:nvSpPr>
        <p:spPr>
          <a:xfrm>
            <a:off x="731520" y="1645920"/>
            <a:ext cx="51206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1. Hiệu Quả Về Kinh Tế</a:t>
            </a:r>
          </a:p>
          <a:p>
            <a:pPr>
              <a:lnSpc>
                <a:spcPct val="125000"/>
              </a:lnSpc>
              <a:spcAft>
                <a:spcPts val="800"/>
              </a:spcAft>
              <a:defRPr sz="1300">
                <a:solidFill>
                  <a:srgbClr val="F8FAFC"/>
                </a:solidFill>
                <a:latin typeface="Segoe UI"/>
              </a:defRPr>
            </a:pPr>
            <a:r>
              <a:t>- Linh kiện nội địa hóa cao, phổ thông nên chi phí chế tạo, lắp đặt vận hành vô cùng rẻ.</a:t>
            </a:r>
          </a:p>
          <a:p>
            <a:pPr>
              <a:lnSpc>
                <a:spcPct val="125000"/>
              </a:lnSpc>
              <a:spcAft>
                <a:spcPts val="800"/>
              </a:spcAft>
              <a:defRPr sz="1300">
                <a:solidFill>
                  <a:srgbClr val="F8FAFC"/>
                </a:solidFill>
                <a:latin typeface="Segoe UI"/>
              </a:defRPr>
            </a:pPr>
            <a:r>
              <a:t>- Tiết kiệm ngân sách nhân sự ứng trực ngập lụt hằng ngày đêm tại các vùng cao mùa mưa lũ.</a:t>
            </a:r>
          </a:p>
          <a:p>
            <a:pPr>
              <a:lnSpc>
                <a:spcPct val="125000"/>
              </a:lnSpc>
              <a:spcAft>
                <a:spcPts val="800"/>
              </a:spcAft>
              <a:defRPr sz="1300">
                <a:solidFill>
                  <a:srgbClr val="F8FAFC"/>
                </a:solidFill>
                <a:latin typeface="Segoe UI"/>
              </a:defRPr>
            </a:pPr>
            <a:r>
              <a:t>- Hạn chế tối đa những thiệt hại vật chất to lớn liên quan đến phương tiện giao thông bị cuốn trôi.</a:t>
            </a:r>
          </a:p>
        </p:txBody>
      </p:sp>
      <p:sp>
        <p:nvSpPr>
          <p:cNvPr id="6" name="Rounded Rectangle 5"/>
          <p:cNvSpPr/>
          <p:nvPr/>
        </p:nvSpPr>
        <p:spPr>
          <a:xfrm>
            <a:off x="6309360" y="1645920"/>
            <a:ext cx="5120640" cy="4297680"/>
          </a:xfrm>
          <a:prstGeom prst="roundRect">
            <a:avLst/>
          </a:prstGeom>
          <a:solidFill>
            <a:srgbClr val="1E293B"/>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2. Giá Trị Sâu Sắc Về Xã Hội</a:t>
            </a:r>
          </a:p>
          <a:p>
            <a:pPr>
              <a:lnSpc>
                <a:spcPct val="125000"/>
              </a:lnSpc>
              <a:spcAft>
                <a:spcPts val="800"/>
              </a:spcAft>
              <a:defRPr sz="1300">
                <a:solidFill>
                  <a:srgbClr val="F8FAFC"/>
                </a:solidFill>
                <a:latin typeface="Segoe UI"/>
              </a:defRPr>
            </a:pPr>
            <a:r>
              <a:t>- Bảo vệ trực tiếp và an toàn tuyệt đối tính mạng của đồng bào miền núi khi tham gia giao thông vượt ngập.</a:t>
            </a:r>
          </a:p>
          <a:p>
            <a:pPr>
              <a:lnSpc>
                <a:spcPct val="125000"/>
              </a:lnSpc>
              <a:spcAft>
                <a:spcPts val="800"/>
              </a:spcAft>
              <a:defRPr sz="1300">
                <a:solidFill>
                  <a:srgbClr val="F8FAFC"/>
                </a:solidFill>
                <a:latin typeface="Segoe UI"/>
              </a:defRPr>
            </a:pPr>
            <a:r>
              <a:t>- Nâng cao năng lực và hiện đại hóa số hóa công tác quản trị thiên tai tại cơ sở xã, huyện vùng xa.</a:t>
            </a:r>
          </a:p>
          <a:p>
            <a:pPr>
              <a:lnSpc>
                <a:spcPct val="125000"/>
              </a:lnSpc>
              <a:spcAft>
                <a:spcPts val="800"/>
              </a:spcAft>
              <a:defRPr sz="1300">
                <a:solidFill>
                  <a:srgbClr val="F8FAFC"/>
                </a:solidFill>
                <a:latin typeface="Segoe UI"/>
              </a:defRPr>
            </a:pPr>
            <a:r>
              <a:t>- Khơi dậy phong trào ứng dụng khoa học kỹ thuật số vào tháo gỡ khó khăn, thách thức thực tế tại quê hương Quảng Trị.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HƯỚNG PHÁT TRIỂN TƯƠNG LAI ĐỀ TÀI</a:t>
            </a:r>
          </a:p>
          <a:p>
            <a:pPr>
              <a:spcBef>
                <a:spcPts val="400"/>
              </a:spcBef>
              <a:defRPr sz="1100" b="1">
                <a:solidFill>
                  <a:srgbClr val="0EA5E9"/>
                </a:solidFill>
                <a:latin typeface="Segoe UI"/>
              </a:defRPr>
            </a:pPr>
            <a:r>
              <a:t>TẦM NHÌN PHÁT TRIỂN</a:t>
            </a:r>
          </a:p>
        </p:txBody>
      </p:sp>
      <p:sp>
        <p:nvSpPr>
          <p:cNvPr id="4" name="Rounded Rectangle 3"/>
          <p:cNvSpPr/>
          <p:nvPr/>
        </p:nvSpPr>
        <p:spPr>
          <a:xfrm>
            <a:off x="731520" y="1645920"/>
            <a:ext cx="32918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1. Trí Tuệ Nhân Tạo (AI)</a:t>
            </a:r>
          </a:p>
          <a:p>
            <a:pPr>
              <a:lnSpc>
                <a:spcPct val="125000"/>
              </a:lnSpc>
              <a:spcAft>
                <a:spcPts val="800"/>
              </a:spcAft>
              <a:defRPr sz="1300">
                <a:solidFill>
                  <a:srgbClr val="F8FAFC"/>
                </a:solidFill>
                <a:latin typeface="Segoe UI"/>
              </a:defRPr>
            </a:pPr>
            <a:r>
              <a:t>Tích hợp thuật toán Machine Learning dự báo sớm mực nước dâng dựa trên lượng mưa lịch sử và vận tốc dòng chảy.</a:t>
            </a:r>
          </a:p>
        </p:txBody>
      </p:sp>
      <p:sp>
        <p:nvSpPr>
          <p:cNvPr id="6" name="Rounded Rectangle 5"/>
          <p:cNvSpPr/>
          <p:nvPr/>
        </p:nvSpPr>
        <p:spPr>
          <a:xfrm>
            <a:off x="4389120" y="1645920"/>
            <a:ext cx="3291840" cy="4297680"/>
          </a:xfrm>
          <a:prstGeom prst="roundRect">
            <a:avLst/>
          </a:prstGeom>
          <a:solidFill>
            <a:srgbClr val="1E293B"/>
          </a:solidFill>
          <a:ln w="254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2. Tích Hợp Camera</a:t>
            </a:r>
          </a:p>
          <a:p>
            <a:pPr>
              <a:lnSpc>
                <a:spcPct val="125000"/>
              </a:lnSpc>
              <a:spcAft>
                <a:spcPts val="800"/>
              </a:spcAft>
              <a:defRPr sz="1300">
                <a:solidFill>
                  <a:srgbClr val="F8FAFC"/>
                </a:solidFill>
                <a:latin typeface="Segoe UI"/>
              </a:defRPr>
            </a:pPr>
            <a:r>
              <a:t>Lắp đặt Module Camera chụp ảnh trực tiếp tại ngầm tràn gửi ảnh realtime về Web App để lực lượng cứu hộ kiểm chứng trực quan.</a:t>
            </a:r>
          </a:p>
        </p:txBody>
      </p:sp>
      <p:sp>
        <p:nvSpPr>
          <p:cNvPr id="8" name="Rounded Rectangle 7"/>
          <p:cNvSpPr/>
          <p:nvPr/>
        </p:nvSpPr>
        <p:spPr>
          <a:xfrm>
            <a:off x="8046720" y="1645920"/>
            <a:ext cx="3291840" cy="429768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1920240"/>
            <a:ext cx="2743200" cy="3749040"/>
          </a:xfrm>
          <a:prstGeom prst="rect">
            <a:avLst/>
          </a:prstGeom>
          <a:noFill/>
        </p:spPr>
        <p:txBody>
          <a:bodyPr wrap="square" lIns="0" tIns="0" rIns="0" bIns="0">
            <a:spAutoFit/>
          </a:bodyPr>
          <a:lstStyle/>
          <a:p>
            <a:pPr>
              <a:spcAft>
                <a:spcPts val="1200"/>
              </a:spcAft>
              <a:defRPr sz="1800" b="1">
                <a:solidFill>
                  <a:srgbClr val="0EA5E9"/>
                </a:solidFill>
                <a:latin typeface="Segoe UI"/>
              </a:defRPr>
            </a:pPr>
            <a:r>
              <a:t>3. Đa Kênh Cảnh Báo</a:t>
            </a:r>
          </a:p>
          <a:p>
            <a:pPr>
              <a:lnSpc>
                <a:spcPct val="125000"/>
              </a:lnSpc>
              <a:spcAft>
                <a:spcPts val="800"/>
              </a:spcAft>
              <a:defRPr sz="1300">
                <a:solidFill>
                  <a:srgbClr val="F8FAFC"/>
                </a:solidFill>
                <a:latin typeface="Segoe UI"/>
              </a:defRPr>
            </a:pPr>
            <a:r>
              <a:t>Xây dựng cơ chế tự động gửi cảnh báo khẩn cấp, tin nhắn vị trí ngập qua Zalo, SMS trực tiếp tới toàn bộ người dân trong vùng thiên tai.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822960"/>
          </a:xfrm>
          <a:prstGeom prst="rect">
            <a:avLst/>
          </a:prstGeom>
          <a:noFill/>
        </p:spPr>
        <p:txBody>
          <a:bodyPr wrap="square" lIns="0" tIns="0" rIns="0" bIns="0">
            <a:spAutoFit/>
          </a:bodyPr>
          <a:lstStyle/>
          <a:p>
            <a:pPr>
              <a:defRPr sz="2800" b="1">
                <a:solidFill>
                  <a:srgbClr val="F8FAFC"/>
                </a:solidFill>
                <a:latin typeface="Segoe UI"/>
              </a:defRPr>
            </a:pPr>
            <a:r>
              <a:t>TẦM NHÌN VÀ KHÁT VỌNG TUỔI TRẺ</a:t>
            </a:r>
          </a:p>
          <a:p>
            <a:pPr>
              <a:spcBef>
                <a:spcPts val="400"/>
              </a:spcBef>
              <a:defRPr sz="1100" b="1">
                <a:solidFill>
                  <a:srgbClr val="0EA5E9"/>
                </a:solidFill>
                <a:latin typeface="Segoe UI"/>
              </a:defRPr>
            </a:pPr>
            <a:r>
              <a:t>SỨ MỆNH DỰ ÁN</a:t>
            </a:r>
          </a:p>
        </p:txBody>
      </p:sp>
      <p:sp>
        <p:nvSpPr>
          <p:cNvPr id="4" name="Rounded Rectangle 3"/>
          <p:cNvSpPr/>
          <p:nvPr/>
        </p:nvSpPr>
        <p:spPr>
          <a:xfrm>
            <a:off x="731520" y="1645920"/>
            <a:ext cx="10698480" cy="4297680"/>
          </a:xfrm>
          <a:prstGeom prst="roundRect">
            <a:avLst/>
          </a:prstGeom>
          <a:solidFill>
            <a:srgbClr val="1E293B"/>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30000"/>
              </a:lnSpc>
              <a:spcBef>
                <a:spcPts val="6000"/>
              </a:spcBef>
              <a:defRPr sz="2800" i="1">
                <a:solidFill>
                  <a:srgbClr val="F8FAFC"/>
                </a:solidFill>
                <a:latin typeface="Segoe UI"/>
              </a:defRPr>
            </a:pPr>
            <a:r>
              <a:t>“ Sự an toàn của người dân miền núi Quảng Trị khi đi qua những ngầm tràn mùa mưa bão chính là động lực to lớn nhất để em nghiên cứu, sáng tạo và hoàn thiện công nghệ này. ”</a:t>
            </a:r>
          </a:p>
          <a:p>
            <a:pPr algn="ctr">
              <a:spcBef>
                <a:spcPts val="3000"/>
              </a:spcBef>
              <a:defRPr sz="1600" b="1">
                <a:solidFill>
                  <a:srgbClr val="EF4444"/>
                </a:solidFill>
                <a:latin typeface="Segoe UI"/>
              </a:defRPr>
            </a:pPr>
            <a:r>
              <a:t>— NGUYỄN MINH PHƯƠNG | Học sinh sáng chế đề tài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371600"/>
            <a:ext cx="10332720" cy="4114800"/>
          </a:xfrm>
          <a:prstGeom prst="rect">
            <a:avLst/>
          </a:prstGeom>
          <a:noFill/>
        </p:spPr>
        <p:txBody>
          <a:bodyPr wrap="square">
            <a:spAutoFit/>
          </a:bodyPr>
          <a:lstStyle/>
          <a:p>
            <a:pPr algn="ctr">
              <a:spcAft>
                <a:spcPts val="1500"/>
              </a:spcAft>
              <a:defRPr sz="4800" b="1">
                <a:solidFill>
                  <a:srgbClr val="0EA5E9"/>
                </a:solidFill>
                <a:latin typeface="Segoe UI"/>
              </a:defRPr>
            </a:pPr>
            <a:r>
              <a:t>XIN CHÂN THÀNH CẢM ƠN!</a:t>
            </a:r>
          </a:p>
          <a:p>
            <a:pPr algn="ctr">
              <a:spcAft>
                <a:spcPts val="4000"/>
              </a:spcAft>
              <a:defRPr sz="2200">
                <a:solidFill>
                  <a:srgbClr val="F8FAFC"/>
                </a:solidFill>
                <a:latin typeface="Segoe UI"/>
              </a:defRPr>
            </a:pPr>
            <a:r>
              <a:t>Em rất mong nhận được những ý kiến đóng góp, nhận xét quý báu từ Ban Giám Khảo!</a:t>
            </a:r>
          </a:p>
        </p:txBody>
      </p:sp>
      <p:sp>
        <p:nvSpPr>
          <p:cNvPr id="3" name="Rounded Rectangle 2"/>
          <p:cNvSpPr/>
          <p:nvPr/>
        </p:nvSpPr>
        <p:spPr>
          <a:xfrm>
            <a:off x="2377440" y="3840480"/>
            <a:ext cx="7406640" cy="128016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200"/>
              </a:spcBef>
              <a:spcAft>
                <a:spcPts val="800"/>
              </a:spcAft>
              <a:defRPr sz="1400" b="1">
                <a:solidFill>
                  <a:srgbClr val="EF4444"/>
                </a:solidFill>
                <a:latin typeface="Segoe UI"/>
              </a:defRPr>
            </a:pPr>
            <a:r>
              <a:t>THÔNG TIN LIÊN HỆ:</a:t>
            </a:r>
          </a:p>
          <a:p>
            <a:pPr algn="ctr">
              <a:defRPr sz="1300">
                <a:solidFill>
                  <a:srgbClr val="94A3B8"/>
                </a:solidFill>
                <a:latin typeface="Segoe UI"/>
              </a:defRPr>
            </a:pPr>
            <a:r>
              <a:t>Thí sinh: Nguyễn Minh Phương | Email: phuongnguyenminh.qt2026@gmail.com</a:t>
            </a:r>
          </a:p>
          <a:p>
            <a:pPr algn="ctr">
              <a:defRPr sz="1200">
                <a:solidFill>
                  <a:srgbClr val="94A3B8"/>
                </a:solidFill>
                <a:latin typeface="Segoe UI"/>
              </a:defRPr>
            </a:pPr>
            <a:r>
              <a:t>Cuộc thi Sáng Tạo Trẻ Tỉnh Quảng Trị Lần Thứ I - Năm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